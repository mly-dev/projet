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 KAYNA PAY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Petit à petit, paye »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898648" y="2880360"/>
            <a:ext cx="6400800" cy="1554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98648" y="2880360"/>
            <a:ext cx="3968496" cy="15544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6720840" y="2811780"/>
            <a:ext cx="292608" cy="29260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2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290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plateforme d'achat par paiement progressif au Niger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Kayan si djineh koy yan gandji »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petit n'empêche pas d'avancer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Niamey, Niger — Août 2026  ·  Document de présentation du projet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pratique répandue, mais sans aucune protection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EAF2F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311" y="164482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21284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L'épargne-achat informelle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1248" y="2907792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Remettre de l'argent petit à petit à une vendeuse jusqu'à compléter le prix : une pratique courante — sans trace écrite ni aucune garantie.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15968" y="1207008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EAF2FA"/>
          </a:solidFill>
          <a:ln/>
        </p:spPr>
      </p:sp>
      <p:sp>
        <p:nvSpPr>
          <p:cNvPr id="9" name="Shape 6"/>
          <p:cNvSpPr/>
          <p:nvPr/>
        </p:nvSpPr>
        <p:spPr>
          <a:xfrm>
            <a:off x="4608576" y="15087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639" y="164482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8576" y="221284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arnaques qui minent la confiance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608576" y="2907792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réseaux WhatsApp de vente échelonnée, des clients paient jusqu'au bout… et le vendeur disparaît avec l'argent.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74152" y="1207008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EAF2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15087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23" y="164482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21284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pouvoir d'achat contraint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366760" y="2907792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solution de crédit accessible, les achats importants — téléphone, moto, électroménager — sont repoussés ou abandonnés.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005CA9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8463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EN UNE PHRASE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914400" y="51389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forte demande d'achat par paiement progressif existe au Niger — mais aucune solution structurée, sécurisée et de confiance ne l'encadre aujourd'hui.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22" name="Shape 17"/>
          <p:cNvSpPr/>
          <p:nvPr/>
        </p:nvSpPr>
        <p:spPr>
          <a:xfrm>
            <a:off x="10680192" y="6510528"/>
            <a:ext cx="147711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 Kayna Pay : acheter à son rythme, en toute sécurité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66928" cy="566928"/>
          </a:xfrm>
          <a:prstGeom prst="ellipse">
            <a:avLst/>
          </a:prstGeom>
          <a:solidFill>
            <a:srgbClr val="005C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98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26187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parcourt le catalogue des vendeurs partenaires et sélectionne le produit ou le service qu'il souhaite acquérir.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88336"/>
            <a:ext cx="566928" cy="566928"/>
          </a:xfrm>
          <a:prstGeom prst="ellipse">
            <a:avLst/>
          </a:prstGeom>
          <a:solidFill>
            <a:srgbClr val="005CA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Verser petit à petit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25880" y="3054096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alimente son achat par mobile money — NITA, Amana ou Wave — au montant et à la fréquence de son choix, même 100 F dans la journée.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566928" cy="566928"/>
          </a:xfrm>
          <a:prstGeom prst="ellipse">
            <a:avLst/>
          </a:prstGeom>
          <a:solidFill>
            <a:srgbClr val="005CA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78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404164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Recevoir, garanti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25880" y="4443984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versement validé fait progresser son portefeuille. Montant atteint : le produit est remis, le service activé.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7543800" cy="868680"/>
          </a:xfrm>
          <a:prstGeom prst="roundRect">
            <a:avLst>
              <a:gd name="adj" fmla="val 12632"/>
            </a:avLst>
          </a:prstGeom>
          <a:solidFill>
            <a:srgbClr val="EAF2F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57784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éprouvé à l'international — « save now, buy later » — </a:t>
            </a:r>
            <a:pPr indent="0" marL="0">
              <a:buNone/>
            </a:pPr>
            <a:r>
              <a:rPr lang="en-US" sz="140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une première au Niger.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32520" y="1143000"/>
            <a:ext cx="2743200" cy="5138928"/>
          </a:xfrm>
          <a:prstGeom prst="roundRect">
            <a:avLst>
              <a:gd name="adj" fmla="val 7333"/>
            </a:avLst>
          </a:prstGeom>
          <a:solidFill>
            <a:srgbClr val="003A70"/>
          </a:solidFill>
          <a:ln/>
        </p:spPr>
      </p:sp>
      <p:sp>
        <p:nvSpPr>
          <p:cNvPr id="18" name="Shape 16"/>
          <p:cNvSpPr/>
          <p:nvPr/>
        </p:nvSpPr>
        <p:spPr>
          <a:xfrm>
            <a:off x="8878824" y="1417320"/>
            <a:ext cx="2450592" cy="4590288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6840" y="1536192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005CA9"/>
          </a:solidFill>
          <a:ln/>
        </p:spPr>
      </p:sp>
      <p:sp>
        <p:nvSpPr>
          <p:cNvPr id="20" name="Text 18"/>
          <p:cNvSpPr/>
          <p:nvPr/>
        </p:nvSpPr>
        <p:spPr>
          <a:xfrm>
            <a:off x="9006840" y="15361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 Kayna Pay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52560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achat en cours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52560" y="22677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  ·  850 000 F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52560" y="2670048"/>
            <a:ext cx="2103120" cy="12801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2670048"/>
            <a:ext cx="1367028" cy="12801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2834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552 500 F versés</a:t>
            </a:r>
            <a:pPr indent="0" marL="0">
              <a:buNone/>
            </a:pPr>
            <a:r>
              <a:rPr lang="en-US" sz="9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65 %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06840" y="3218688"/>
            <a:ext cx="2194560" cy="621792"/>
          </a:xfrm>
          <a:prstGeom prst="roundRect">
            <a:avLst>
              <a:gd name="adj" fmla="val 17647"/>
            </a:avLst>
          </a:prstGeom>
          <a:solidFill>
            <a:srgbClr val="EAF2FA"/>
          </a:solidFill>
          <a:ln/>
        </p:spPr>
      </p:sp>
      <p:sp>
        <p:nvSpPr>
          <p:cNvPr id="27" name="Text 25"/>
          <p:cNvSpPr/>
          <p:nvPr/>
        </p:nvSpPr>
        <p:spPr>
          <a:xfrm>
            <a:off x="9162288" y="32735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+ 5 000 F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— validé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06840" y="3931920"/>
            <a:ext cx="2194560" cy="621792"/>
          </a:xfrm>
          <a:prstGeom prst="roundRect">
            <a:avLst>
              <a:gd name="adj" fmla="val 17647"/>
            </a:avLst>
          </a:prstGeom>
          <a:solidFill>
            <a:srgbClr val="EAF2FA"/>
          </a:solidFill>
          <a:ln/>
        </p:spPr>
      </p:sp>
      <p:sp>
        <p:nvSpPr>
          <p:cNvPr id="29" name="Text 27"/>
          <p:cNvSpPr/>
          <p:nvPr/>
        </p:nvSpPr>
        <p:spPr>
          <a:xfrm>
            <a:off x="9162288" y="39867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+ 2 500 F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— validé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06840" y="480060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00684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un versement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06840" y="5358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NITA  ·  Amana  ·  Wave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32520" y="6345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de l'application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80192" y="6510528"/>
            <a:ext cx="221566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cadre de confiance où tout le monde gagne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EAF2F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7373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89" y="1882201"/>
            <a:ext cx="313822" cy="313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51460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client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1248" y="3017520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Acquiert des biens coûteux sans crédit ni endettement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garantie de recevoir son produit une fois le paiement complété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chacun de ses versements en toute transparence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15968" y="141732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EAF2FA"/>
          </a:solidFill>
          <a:ln/>
        </p:spPr>
      </p:sp>
      <p:sp>
        <p:nvSpPr>
          <p:cNvPr id="9" name="Shape 6"/>
          <p:cNvSpPr/>
          <p:nvPr/>
        </p:nvSpPr>
        <p:spPr>
          <a:xfrm>
            <a:off x="4608576" y="17373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417" y="1882201"/>
            <a:ext cx="313822" cy="3138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8576" y="251460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vendeur partenaire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08576" y="3017520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 un canal de vente supplémentaire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 une clientèle qui ne pouvait pas acheter comptant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payé intégralement avant la livraison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74152" y="141732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EAF2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17373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601" y="1882201"/>
            <a:ext cx="313822" cy="31382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51460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L'écosystème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66760" y="3017520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une pratique populaire déjà existante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la méfiance par des règles claires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vendeur et plateforme : tous gagnants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19" name="Shape 14"/>
          <p:cNvSpPr/>
          <p:nvPr/>
        </p:nvSpPr>
        <p:spPr>
          <a:xfrm>
            <a:off x="10680192" y="6510528"/>
            <a:ext cx="295422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peut s'acheter petit à petit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1709928"/>
          </a:xfrm>
          <a:prstGeom prst="roundRect">
            <a:avLst>
              <a:gd name="adj" fmla="val 6417"/>
            </a:avLst>
          </a:prstGeom>
          <a:solidFill>
            <a:srgbClr val="EAF2FA"/>
          </a:solidFill>
          <a:ln/>
        </p:spPr>
      </p:sp>
      <p:sp>
        <p:nvSpPr>
          <p:cNvPr id="4" name="Shape 2"/>
          <p:cNvSpPr/>
          <p:nvPr/>
        </p:nvSpPr>
        <p:spPr>
          <a:xfrm>
            <a:off x="1568196" y="14904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59" y="1626535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167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55848" y="1234440"/>
            <a:ext cx="2606040" cy="1709928"/>
          </a:xfrm>
          <a:prstGeom prst="roundRect">
            <a:avLst>
              <a:gd name="adj" fmla="val 6417"/>
            </a:avLst>
          </a:prstGeom>
          <a:solidFill>
            <a:srgbClr val="EAF2FA"/>
          </a:solidFill>
          <a:ln/>
        </p:spPr>
      </p:sp>
      <p:sp>
        <p:nvSpPr>
          <p:cNvPr id="8" name="Shape 5"/>
          <p:cNvSpPr/>
          <p:nvPr/>
        </p:nvSpPr>
        <p:spPr>
          <a:xfrm>
            <a:off x="4375404" y="14904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67" y="1626535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93008" y="2167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Informatique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63056" y="1234440"/>
            <a:ext cx="2606040" cy="1709928"/>
          </a:xfrm>
          <a:prstGeom prst="roundRect">
            <a:avLst>
              <a:gd name="adj" fmla="val 6417"/>
            </a:avLst>
          </a:prstGeom>
          <a:solidFill>
            <a:srgbClr val="EAF2FA"/>
          </a:solidFill>
          <a:ln/>
        </p:spPr>
      </p:sp>
      <p:sp>
        <p:nvSpPr>
          <p:cNvPr id="12" name="Shape 8"/>
          <p:cNvSpPr/>
          <p:nvPr/>
        </p:nvSpPr>
        <p:spPr>
          <a:xfrm>
            <a:off x="7182612" y="14904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675" y="1626535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0216" y="2167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Motos &amp; véhicules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970264" y="1234440"/>
            <a:ext cx="2606040" cy="1709928"/>
          </a:xfrm>
          <a:prstGeom prst="roundRect">
            <a:avLst>
              <a:gd name="adj" fmla="val 6417"/>
            </a:avLst>
          </a:prstGeom>
          <a:solidFill>
            <a:srgbClr val="EAF2FA"/>
          </a:solidFill>
          <a:ln/>
        </p:spPr>
      </p:sp>
      <p:sp>
        <p:nvSpPr>
          <p:cNvPr id="16" name="Shape 11"/>
          <p:cNvSpPr/>
          <p:nvPr/>
        </p:nvSpPr>
        <p:spPr>
          <a:xfrm>
            <a:off x="9989820" y="14904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5883" y="1626535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07424" y="2167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Électroménager &amp; maison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127248"/>
            <a:ext cx="2606040" cy="1709928"/>
          </a:xfrm>
          <a:prstGeom prst="roundRect">
            <a:avLst>
              <a:gd name="adj" fmla="val 6417"/>
            </a:avLst>
          </a:prstGeom>
          <a:solidFill>
            <a:srgbClr val="EAF2FA"/>
          </a:solidFill>
          <a:ln/>
        </p:spPr>
      </p:sp>
      <p:sp>
        <p:nvSpPr>
          <p:cNvPr id="20" name="Shape 14"/>
          <p:cNvSpPr/>
          <p:nvPr/>
        </p:nvSpPr>
        <p:spPr>
          <a:xfrm>
            <a:off x="1568196" y="3383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259" y="3519343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800" y="405993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Ustensiles de cuisine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355848" y="3127248"/>
            <a:ext cx="2606040" cy="1709928"/>
          </a:xfrm>
          <a:prstGeom prst="roundRect">
            <a:avLst>
              <a:gd name="adj" fmla="val 6417"/>
            </a:avLst>
          </a:prstGeom>
          <a:solidFill>
            <a:srgbClr val="EAF2FA"/>
          </a:solidFill>
          <a:ln/>
        </p:spPr>
      </p:sp>
      <p:sp>
        <p:nvSpPr>
          <p:cNvPr id="24" name="Shape 17"/>
          <p:cNvSpPr/>
          <p:nvPr/>
        </p:nvSpPr>
        <p:spPr>
          <a:xfrm>
            <a:off x="4375404" y="3383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467" y="3519343"/>
            <a:ext cx="294803" cy="29480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493008" y="405993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Billets &amp; voyages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163056" y="3127248"/>
            <a:ext cx="2606040" cy="1709928"/>
          </a:xfrm>
          <a:prstGeom prst="roundRect">
            <a:avLst>
              <a:gd name="adj" fmla="val 6417"/>
            </a:avLst>
          </a:prstGeom>
          <a:solidFill>
            <a:srgbClr val="EAF2FA"/>
          </a:solidFill>
          <a:ln/>
        </p:spPr>
      </p:sp>
      <p:sp>
        <p:nvSpPr>
          <p:cNvPr id="28" name="Shape 20"/>
          <p:cNvSpPr/>
          <p:nvPr/>
        </p:nvSpPr>
        <p:spPr>
          <a:xfrm>
            <a:off x="7182612" y="3383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675" y="3519343"/>
            <a:ext cx="294803" cy="29480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00216" y="405993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8970264" y="3127248"/>
            <a:ext cx="2606040" cy="1709928"/>
          </a:xfrm>
          <a:prstGeom prst="roundRect">
            <a:avLst>
              <a:gd name="adj" fmla="val 6417"/>
            </a:avLst>
          </a:prstGeom>
          <a:solidFill>
            <a:srgbClr val="EAF2FA"/>
          </a:solidFill>
          <a:ln/>
        </p:spPr>
      </p:sp>
      <p:sp>
        <p:nvSpPr>
          <p:cNvPr id="32" name="Shape 23"/>
          <p:cNvSpPr/>
          <p:nvPr/>
        </p:nvSpPr>
        <p:spPr>
          <a:xfrm>
            <a:off x="9989820" y="3383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5883" y="3519343"/>
            <a:ext cx="294803" cy="29480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107424" y="405993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bien plus encore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priorité ira aux biens à valeur élevée</a:t>
            </a:r>
            <a:pPr algn="ctr" indent="0" marL="0">
              <a:buNone/>
            </a:pPr>
            <a:r>
              <a:rPr lang="en-US" sz="150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là où le besoin de paiement progressif est le plus fort.</a:t>
            </a:r>
            <a:endParaRPr lang="en-US" sz="1500" dirty="0"/>
          </a:p>
        </p:txBody>
      </p:sp>
      <p:sp>
        <p:nvSpPr>
          <p:cNvPr id="36" name="Shape 26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37" name="Shape 27"/>
          <p:cNvSpPr/>
          <p:nvPr/>
        </p:nvSpPr>
        <p:spPr>
          <a:xfrm>
            <a:off x="10680192" y="6510528"/>
            <a:ext cx="369277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marché ouvert — l'occasion d'être les premiers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EAF2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6479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1909633"/>
            <a:ext cx="313822" cy="313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647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concurrent structuré au Niger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seules alternatives sont les arrangements informels et les réseaux WhatsApp — ceux-là mêmes qui souffrent du déficit de confiance.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L'opportunité : occuper le terrain en premier, imposer la marque et capter le marché avant l'arrivée d'imitateurs.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90488" y="141732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EAF2FA"/>
          </a:solidFill>
          <a:ln/>
        </p:spPr>
      </p:sp>
      <p:sp>
        <p:nvSpPr>
          <p:cNvPr id="9" name="Shape 6"/>
          <p:cNvSpPr/>
          <p:nvPr/>
        </p:nvSpPr>
        <p:spPr>
          <a:xfrm>
            <a:off x="6510528" y="176479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1909633"/>
            <a:ext cx="313822" cy="3138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87768" y="17647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déjà validé dans la région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10528" y="269748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Molo Molo Pay a démontré en Côte d'Ivoire la viabilité du « save now, buy later » ouest-africain : mobile money répandu, épargne informelle ancrée, forte demande d'équipement.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 Kayna Pay l'adapte aux réalités nigériennes : langues locales, opérateurs du pays, habitudes de consommation.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14" name="Shape 10"/>
          <p:cNvSpPr/>
          <p:nvPr/>
        </p:nvSpPr>
        <p:spPr>
          <a:xfrm>
            <a:off x="10680192" y="6510528"/>
            <a:ext cx="443132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publics prioritaires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720840" cy="4709160"/>
          </a:xfrm>
          <a:prstGeom prst="roundRect">
            <a:avLst>
              <a:gd name="adj" fmla="val 2330"/>
            </a:avLst>
          </a:prstGeom>
          <a:solidFill>
            <a:srgbClr val="EAF2F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5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Côté demande — nos futurs clients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805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3055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femmes des circuits d'épargne-achat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249631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très actives dans ces pratiques informelles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3558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4" y="3487522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3375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jeunes actifs qui s'équipent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00200" y="370332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téléphone, ordinateur, moto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8680" y="45628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4694530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54456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personne qui lisse une dépense importante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600200" y="491032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modestes ou irréguliers, biens coûteux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479792" y="1280160"/>
            <a:ext cx="4160520" cy="4709160"/>
          </a:xfrm>
          <a:prstGeom prst="roundRect">
            <a:avLst>
              <a:gd name="adj" fmla="val 2637"/>
            </a:avLst>
          </a:prstGeom>
          <a:solidFill>
            <a:srgbClr val="EAF2FA"/>
          </a:solidFill>
          <a:ln/>
        </p:spPr>
      </p:sp>
      <p:sp>
        <p:nvSpPr>
          <p:cNvPr id="18" name="Text 13"/>
          <p:cNvSpPr/>
          <p:nvPr/>
        </p:nvSpPr>
        <p:spPr>
          <a:xfrm>
            <a:off x="7799832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5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Côté offre — nos partenaires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799832" y="2148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506" y="22805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31352" y="21488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Commerçants et boutiques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7799832" y="33558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506" y="3487522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31352" y="33558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Concessionnaires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7799832" y="45628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506" y="4694530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31352" y="456285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— assurance, transport</a:t>
            </a:r>
            <a:endParaRPr lang="en-US" sz="1450" dirty="0"/>
          </a:p>
        </p:txBody>
      </p:sp>
      <p:sp>
        <p:nvSpPr>
          <p:cNvPr id="28" name="Shape 20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29" name="Shape 21"/>
          <p:cNvSpPr/>
          <p:nvPr/>
        </p:nvSpPr>
        <p:spPr>
          <a:xfrm>
            <a:off x="10680192" y="6510528"/>
            <a:ext cx="516988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économique simple et transparent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46120" cy="4709160"/>
          </a:xfrm>
          <a:prstGeom prst="roundRect">
            <a:avLst>
              <a:gd name="adj" fmla="val 3380"/>
            </a:avLst>
          </a:prstGeom>
          <a:solidFill>
            <a:srgbClr val="EAF2F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5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commission, incluse dans le prix affiché — la source de revenu de la plateforme au lancement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160020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0"/>
            </a:srgbClr>
          </a:solidFill>
          <a:ln w="19050">
            <a:solidFill>
              <a:srgbClr val="DCE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76479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du vendeur</a:t>
            </a:r>
            <a:endParaRPr lang="en-US" sz="125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 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0" y="1947672"/>
            <a:ext cx="960120" cy="54864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/>
          <p:nvPr/>
        </p:nvSpPr>
        <p:spPr>
          <a:xfrm>
            <a:off x="7424928" y="2496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+ 5 %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95360" y="160020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005CA9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0" y="176479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affiché au client</a:t>
            </a:r>
            <a:endParaRPr lang="en-US" sz="125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105 000 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9536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illustratif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3520440"/>
            <a:ext cx="7269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vendeur reçoit l'intégralité de son prix.</a:t>
            </a:r>
            <a:endParaRPr lang="en-US" sz="14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paie le prix affiché — aucun frais caché.</a:t>
            </a:r>
            <a:endParaRPr lang="en-US" sz="14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frais de dépôt mobile money restent à la charge du client, conformément aux usages en vigueur.</a:t>
            </a:r>
            <a:endParaRPr lang="en-US" sz="1400" dirty="0"/>
          </a:p>
          <a:p>
            <a:pPr algn="l"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terme : mise en avant de produits, services premium, partenariats institutionnels.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80192" y="6510528"/>
            <a:ext cx="590843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confiance est notre produit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AF2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1663476"/>
            <a:ext cx="275783" cy="275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36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CGU et confidentialité claires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droits et devoirs de chacun, écrits noir sur blanc.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15968" y="12801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AF2FA"/>
          </a:solidFill>
          <a:ln/>
        </p:spPr>
      </p:sp>
      <p:sp>
        <p:nvSpPr>
          <p:cNvPr id="9" name="Shape 6"/>
          <p:cNvSpPr/>
          <p:nvPr/>
        </p:nvSpPr>
        <p:spPr>
          <a:xfrm>
            <a:off x="4590288" y="153619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572" y="1663476"/>
            <a:ext cx="275783" cy="2757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76088" y="1536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règles pour chaque cas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90288" y="22402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Versements interrompus, produit indisponible, remboursement : tout est prévu et transparent.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74152" y="12801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AF2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48472" y="153619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756" y="1663476"/>
            <a:ext cx="275783" cy="27578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34272" y="1536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historique qui fait preuve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48472" y="22402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versement est tracé, horodaté et consultable par le client.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2432304" y="3611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AF2FA"/>
          </a:solidFill>
          <a:ln/>
        </p:spPr>
      </p:sp>
      <p:sp>
        <p:nvSpPr>
          <p:cNvPr id="19" name="Shape 14"/>
          <p:cNvSpPr/>
          <p:nvPr/>
        </p:nvSpPr>
        <p:spPr>
          <a:xfrm>
            <a:off x="2706624" y="386791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908" y="3995196"/>
            <a:ext cx="275783" cy="27578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92424" y="38679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vendeurs vérifiés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2706624" y="4572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rigoureuse des partenaires admis sur la plateforme.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190488" y="3611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AF2FA"/>
          </a:solidFill>
          <a:ln/>
        </p:spPr>
      </p:sp>
      <p:sp>
        <p:nvSpPr>
          <p:cNvPr id="24" name="Shape 18"/>
          <p:cNvSpPr/>
          <p:nvPr/>
        </p:nvSpPr>
        <p:spPr>
          <a:xfrm>
            <a:off x="6464808" y="386791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092" y="3995196"/>
            <a:ext cx="275783" cy="27578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0608" y="38679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UEMOA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6464808" y="45720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sur la réglementation des services de paiement — un gage de crédibilité.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nous distingue radicalement des circuits informels.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30" name="Shape 23"/>
          <p:cNvSpPr/>
          <p:nvPr/>
        </p:nvSpPr>
        <p:spPr>
          <a:xfrm>
            <a:off x="10680192" y="6510528"/>
            <a:ext cx="664698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espaces, une même plateforme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3977640"/>
          </a:xfrm>
          <a:prstGeom prst="roundRect">
            <a:avLst>
              <a:gd name="adj" fmla="val 3077"/>
            </a:avLst>
          </a:prstGeom>
          <a:solidFill>
            <a:srgbClr val="EAF2F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5727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311" y="1708831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D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client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" y="2468880"/>
            <a:ext cx="29809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et recherche de produits et services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portefeuille par achat, alimenté à son rythme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Versements NITA, Amana et Wave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en temps réel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15968" y="1280160"/>
            <a:ext cx="3566160" cy="3977640"/>
          </a:xfrm>
          <a:prstGeom prst="roundRect">
            <a:avLst>
              <a:gd name="adj" fmla="val 3077"/>
            </a:avLst>
          </a:prstGeom>
          <a:solidFill>
            <a:srgbClr val="EAF2FA"/>
          </a:solidFill>
          <a:ln/>
        </p:spPr>
      </p:sp>
      <p:sp>
        <p:nvSpPr>
          <p:cNvPr id="9" name="Shape 6"/>
          <p:cNvSpPr/>
          <p:nvPr/>
        </p:nvSpPr>
        <p:spPr>
          <a:xfrm>
            <a:off x="4608576" y="15727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639" y="1708831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partenaire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D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vendeur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08576" y="2468880"/>
            <a:ext cx="29809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lui-même ses produits et services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les achats en cours sur ses articles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Constate les commandes finalisées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74152" y="1280160"/>
            <a:ext cx="3566160" cy="3977640"/>
          </a:xfrm>
          <a:prstGeom prst="roundRect">
            <a:avLst>
              <a:gd name="adj" fmla="val 3077"/>
            </a:avLst>
          </a:prstGeom>
          <a:solidFill>
            <a:srgbClr val="EAF2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15727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23" y="1708831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61704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administrateur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D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équipe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66760" y="2468880"/>
            <a:ext cx="29809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chaque versement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 comptes clients et partenaires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 catalogue et garantit le bon fonctionnement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48640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versement est vérifié et validé par notre équipe : </a:t>
            </a:r>
            <a:pPr indent="0" marL="0">
              <a:buNone/>
            </a:pPr>
            <a:r>
              <a:rPr lang="en-US" sz="14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franc versé est tracé, du premier au dernier.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21" name="Shape 16"/>
          <p:cNvSpPr/>
          <p:nvPr/>
        </p:nvSpPr>
        <p:spPr>
          <a:xfrm>
            <a:off x="10680192" y="6510528"/>
            <a:ext cx="738554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marque locale, une communication de proximité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EAF2F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361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5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L'identité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nom et un slogan en zarma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43230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immédiatement compréhensibles et mémorables — un service fait par et pour les Nigériens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3649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4" y="3496666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3467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bleu et le blanc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00200" y="369417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confiance, sérieux, simplicité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8680" y="462686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4758538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608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ton proche et populaire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00200" y="49560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ancré dans les langues et les réalités locales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90488" y="128016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EAF2FA"/>
          </a:solidFill>
          <a:ln/>
        </p:spPr>
      </p:sp>
      <p:sp>
        <p:nvSpPr>
          <p:cNvPr id="18" name="Text 13"/>
          <p:cNvSpPr/>
          <p:nvPr/>
        </p:nvSpPr>
        <p:spPr>
          <a:xfrm>
            <a:off x="6510528" y="15361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5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 vers nos publics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6510528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202" y="223479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42048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terrain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242048" y="243230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marchés, flyers, bouche-à-oreille, groupements de femmes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510528" y="33649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202" y="3496666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42048" y="33467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digital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242048" y="369417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sociaux et WhatsApp — là où la demande s'exprime déjà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510528" y="462686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202" y="4758538"/>
            <a:ext cx="285293" cy="28529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42048" y="4608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L'encouragement dans l'app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7242048" y="49560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Même 100 F aujourd'hui, c'est un pas de plus vers votre objectif. »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32" name="Shape 24"/>
          <p:cNvSpPr/>
          <p:nvPr/>
        </p:nvSpPr>
        <p:spPr>
          <a:xfrm>
            <a:off x="10680192" y="6510528"/>
            <a:ext cx="812409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feuille de route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764792"/>
            <a:ext cx="11091672" cy="32004"/>
          </a:xfrm>
          <a:prstGeom prst="rect">
            <a:avLst/>
          </a:prstGeom>
          <a:solidFill>
            <a:srgbClr val="DCE7F2"/>
          </a:solidFill>
          <a:ln/>
        </p:spPr>
      </p:sp>
      <p:sp>
        <p:nvSpPr>
          <p:cNvPr id="4" name="Shape 2"/>
          <p:cNvSpPr/>
          <p:nvPr/>
        </p:nvSpPr>
        <p:spPr>
          <a:xfrm>
            <a:off x="1037844" y="1536192"/>
            <a:ext cx="1143000" cy="47548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" y="153619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121408" cy="3200400"/>
          </a:xfrm>
          <a:prstGeom prst="roundRect">
            <a:avLst>
              <a:gd name="adj" fmla="val 5172"/>
            </a:avLst>
          </a:prstGeom>
          <a:solidFill>
            <a:srgbClr val="EAF2F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5146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944368"/>
            <a:ext cx="17190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validé, cadre juridique clarifié, CGU rédigées, maquettes et identité visuelle finalisées.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8124" y="1536192"/>
            <a:ext cx="1143000" cy="475488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  <p:sp>
        <p:nvSpPr>
          <p:cNvPr id="10" name="Text 8"/>
          <p:cNvSpPr/>
          <p:nvPr/>
        </p:nvSpPr>
        <p:spPr>
          <a:xfrm>
            <a:off x="3278124" y="153619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286000"/>
            <a:ext cx="2121408" cy="3200400"/>
          </a:xfrm>
          <a:prstGeom prst="roundRect">
            <a:avLst>
              <a:gd name="adj" fmla="val 5172"/>
            </a:avLst>
          </a:prstGeom>
          <a:solidFill>
            <a:srgbClr val="EAF2FA"/>
          </a:solidFill>
          <a:ln/>
        </p:spPr>
      </p:sp>
      <p:sp>
        <p:nvSpPr>
          <p:cNvPr id="12" name="Text 10"/>
          <p:cNvSpPr/>
          <p:nvPr/>
        </p:nvSpPr>
        <p:spPr>
          <a:xfrm>
            <a:off x="2990088" y="25146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90088" y="2944368"/>
            <a:ext cx="17190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complet : inscription, catalogue, achat, versements avec validation, notifications, espace admin.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18404" y="1536192"/>
            <a:ext cx="1143000" cy="475488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  <p:sp>
        <p:nvSpPr>
          <p:cNvPr id="15" name="Text 13"/>
          <p:cNvSpPr/>
          <p:nvPr/>
        </p:nvSpPr>
        <p:spPr>
          <a:xfrm>
            <a:off x="5518404" y="153619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286000"/>
            <a:ext cx="2121408" cy="3200400"/>
          </a:xfrm>
          <a:prstGeom prst="roundRect">
            <a:avLst>
              <a:gd name="adj" fmla="val 5172"/>
            </a:avLst>
          </a:prstGeom>
          <a:solidFill>
            <a:srgbClr val="EAF2FA"/>
          </a:solidFill>
          <a:ln/>
        </p:spPr>
      </p:sp>
      <p:sp>
        <p:nvSpPr>
          <p:cNvPr id="17" name="Text 15"/>
          <p:cNvSpPr/>
          <p:nvPr/>
        </p:nvSpPr>
        <p:spPr>
          <a:xfrm>
            <a:off x="5230368" y="25146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0368" y="2944368"/>
            <a:ext cx="17190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groupe de partenaires vérifiés et de clients pilotes ; rodage de la validation des versements.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58684" y="1536192"/>
            <a:ext cx="1143000" cy="475488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  <p:sp>
        <p:nvSpPr>
          <p:cNvPr id="20" name="Text 18"/>
          <p:cNvSpPr/>
          <p:nvPr/>
        </p:nvSpPr>
        <p:spPr>
          <a:xfrm>
            <a:off x="7758684" y="153619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2286000"/>
            <a:ext cx="2121408" cy="3200400"/>
          </a:xfrm>
          <a:prstGeom prst="roundRect">
            <a:avLst>
              <a:gd name="adj" fmla="val 5172"/>
            </a:avLst>
          </a:prstGeom>
          <a:solidFill>
            <a:srgbClr val="EAF2FA"/>
          </a:solidFill>
          <a:ln/>
        </p:spPr>
      </p:sp>
      <p:sp>
        <p:nvSpPr>
          <p:cNvPr id="22" name="Text 20"/>
          <p:cNvSpPr/>
          <p:nvPr/>
        </p:nvSpPr>
        <p:spPr>
          <a:xfrm>
            <a:off x="7470648" y="25146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70648" y="2944368"/>
            <a:ext cx="17190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publique, campagne terrain et digitale, montée en charge des partenaires.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998964" y="1536192"/>
            <a:ext cx="1143000" cy="475488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  <p:sp>
        <p:nvSpPr>
          <p:cNvPr id="25" name="Text 23"/>
          <p:cNvSpPr/>
          <p:nvPr/>
        </p:nvSpPr>
        <p:spPr>
          <a:xfrm>
            <a:off x="9998964" y="153619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2286000"/>
            <a:ext cx="2121408" cy="3200400"/>
          </a:xfrm>
          <a:prstGeom prst="roundRect">
            <a:avLst>
              <a:gd name="adj" fmla="val 5172"/>
            </a:avLst>
          </a:prstGeom>
          <a:solidFill>
            <a:srgbClr val="EAF2FA"/>
          </a:solidFill>
          <a:ln/>
        </p:spPr>
      </p:sp>
      <p:sp>
        <p:nvSpPr>
          <p:cNvPr id="27" name="Text 25"/>
          <p:cNvSpPr/>
          <p:nvPr/>
        </p:nvSpPr>
        <p:spPr>
          <a:xfrm>
            <a:off x="9710928" y="25146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10928" y="2944368"/>
            <a:ext cx="17190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locales, iOS, automatisation des paiements, préparation de l'expansion régionale.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8521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immédiate : </a:t>
            </a:r>
            <a:pPr algn="ctr" indent="0" marL="0">
              <a:buNone/>
            </a:pPr>
            <a:r>
              <a:rPr lang="en-US" sz="1350" dirty="0">
                <a:solidFill>
                  <a:srgbClr val="2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arbitrer les règles de gestion, engager la consultation juridique et signer les premiers partenaires pilotes.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0680192" y="6510528"/>
            <a:ext cx="960120" cy="82296"/>
          </a:xfrm>
          <a:prstGeom prst="roundRect">
            <a:avLst>
              <a:gd name="adj" fmla="val 50000"/>
            </a:avLst>
          </a:prstGeom>
          <a:solidFill>
            <a:srgbClr val="DCE7F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80192" y="6510528"/>
            <a:ext cx="886265" cy="82296"/>
          </a:xfrm>
          <a:prstGeom prst="roundRect">
            <a:avLst>
              <a:gd name="adj" fmla="val 50000"/>
            </a:avLst>
          </a:prstGeom>
          <a:solidFill>
            <a:srgbClr val="005CA9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0F4E8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1430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29809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Démocratiser l'accès aux biens et services : permettre à chacun d'acheter à son rythme, dans un cadre sûr et transparent.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15968" y="86868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0F4E8F"/>
          </a:solidFill>
          <a:ln/>
        </p:spPr>
      </p:sp>
      <p:sp>
        <p:nvSpPr>
          <p:cNvPr id="6" name="Text 4"/>
          <p:cNvSpPr/>
          <p:nvPr/>
        </p:nvSpPr>
        <p:spPr>
          <a:xfrm>
            <a:off x="4608576" y="11430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08576" y="1554480"/>
            <a:ext cx="29809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la référence panafricaine de l'achat par paiement progressif — en partant du Niger, vers toute la sous-région.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74152" y="86868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0F4E8F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11430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554480"/>
            <a:ext cx="29809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Confiance, accessibilité, ancrage local, transparence et progrès partagé.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Kayan si djineh koy yan gandji »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petit n'empêche pas d'avancer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41648" y="5074920"/>
            <a:ext cx="4114800" cy="13716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5074920"/>
            <a:ext cx="4114800" cy="13716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15" name="Shape 13"/>
          <p:cNvSpPr/>
          <p:nvPr/>
        </p:nvSpPr>
        <p:spPr>
          <a:xfrm>
            <a:off x="8019288" y="5006340"/>
            <a:ext cx="274320" cy="274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B9C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 KAYNA PAY   ·   Niamey, Niger   ·   Août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Kayna Kayna Pay — Présentation du projet</dc:title>
  <dc:subject>PptxGenJS Presentation</dc:subject>
  <dc:creator>Kayna Kayna Pay</dc:creator>
  <cp:lastModifiedBy>Kayna Kayna Pay</cp:lastModifiedBy>
  <cp:revision>1</cp:revision>
  <dcterms:created xsi:type="dcterms:W3CDTF">2026-08-04T12:37:17Z</dcterms:created>
  <dcterms:modified xsi:type="dcterms:W3CDTF">2026-08-04T12:37:17Z</dcterms:modified>
</cp:coreProperties>
</file>